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Fira Sans Extra Condensed Medium"/>
      <p:regular r:id="rId24"/>
      <p:bold r:id="rId25"/>
      <p:italic r:id="rId26"/>
      <p:boldItalic r:id="rId27"/>
    </p:embeddedFont>
    <p:embeddedFont>
      <p:font typeface="Fira Sans Extra Condensed"/>
      <p:regular r:id="rId28"/>
      <p:bold r:id="rId29"/>
      <p:italic r:id="rId30"/>
      <p:boldItalic r:id="rId31"/>
    </p:embeddedFont>
    <p:embeddedFont>
      <p:font typeface="Fira Sans Extra Condensed SemiBol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gHo8hFGlHssfMDiUAb9hJsZ6fJ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7CB2D44-A394-405F-942F-F64A30195652}">
  <a:tblStyle styleId="{47CB2D44-A394-405F-942F-F64A301956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FiraSansExtraCondensedMedium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SansExtraCondensedMedium-italic.fntdata"/><Relationship Id="rId25" Type="http://schemas.openxmlformats.org/officeDocument/2006/relationships/font" Target="fonts/FiraSansExtraCondensedMedium-bold.fntdata"/><Relationship Id="rId28" Type="http://schemas.openxmlformats.org/officeDocument/2006/relationships/font" Target="fonts/FiraSansExtraCondensed-regular.fntdata"/><Relationship Id="rId27" Type="http://schemas.openxmlformats.org/officeDocument/2006/relationships/font" Target="fonts/FiraSansExtraCondensed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SansExtraCondense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raSansExtraCondensed-boldItalic.fntdata"/><Relationship Id="rId30" Type="http://schemas.openxmlformats.org/officeDocument/2006/relationships/font" Target="fonts/FiraSansExtraCondensed-italic.fntdata"/><Relationship Id="rId11" Type="http://schemas.openxmlformats.org/officeDocument/2006/relationships/slide" Target="slides/slide6.xml"/><Relationship Id="rId33" Type="http://schemas.openxmlformats.org/officeDocument/2006/relationships/font" Target="fonts/FiraSansExtraCondensedSemiBold-bold.fntdata"/><Relationship Id="rId10" Type="http://schemas.openxmlformats.org/officeDocument/2006/relationships/slide" Target="slides/slide5.xml"/><Relationship Id="rId32" Type="http://schemas.openxmlformats.org/officeDocument/2006/relationships/font" Target="fonts/FiraSansExtraCondensedSemiBold-regular.fntdata"/><Relationship Id="rId13" Type="http://schemas.openxmlformats.org/officeDocument/2006/relationships/slide" Target="slides/slide8.xml"/><Relationship Id="rId35" Type="http://schemas.openxmlformats.org/officeDocument/2006/relationships/font" Target="fonts/FiraSansExtraCondensedSemiBold-boldItalic.fntdata"/><Relationship Id="rId12" Type="http://schemas.openxmlformats.org/officeDocument/2006/relationships/slide" Target="slides/slide7.xml"/><Relationship Id="rId34" Type="http://schemas.openxmlformats.org/officeDocument/2006/relationships/font" Target="fonts/FiraSansExtraCondensedSemiBold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7a2f8d65a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a7a2f8d65a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784559303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a784559303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59377e9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859377e9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7a2f8d6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a7a2f8d6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779d093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a779d093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7a2f8d65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a7a2f8d65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5ad08b668_0_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a5ad08b668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7845593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a7845593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78455930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a78455930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95eb7b7a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995eb7b7a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95eb7b7a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995eb7b7a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95eb7b7a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995eb7b7a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d56edcf9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7d56edcf9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987356" y="1629550"/>
            <a:ext cx="3422400" cy="15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987356" y="3147050"/>
            <a:ext cx="36072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14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2" name="Google Shape;4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hyperlink" Target="http://www.jobflex.cl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"/>
          <p:cNvSpPr txBox="1"/>
          <p:nvPr/>
        </p:nvSpPr>
        <p:spPr>
          <a:xfrm>
            <a:off x="549450" y="1129875"/>
            <a:ext cx="44907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" sz="36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Evaluación Transversal:</a:t>
            </a:r>
            <a:endParaRPr b="0" i="0" sz="3600" u="none" cap="none" strike="noStrike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1" lang="en" sz="26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“JobFlex - Plataforma de Empleo Multiperfil”</a:t>
            </a:r>
            <a:endParaRPr b="0" i="1" sz="2600" u="none" cap="none" strike="noStrike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PTY4614 - Capstone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333550" y="4119400"/>
            <a:ext cx="21267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Sección:</a:t>
            </a:r>
            <a:r>
              <a:rPr b="0" i="0" lang="en" sz="15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002D</a:t>
            </a:r>
            <a:endParaRPr b="0" i="0" sz="1500" u="none" cap="none" strike="noStrike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Docente: </a:t>
            </a:r>
            <a:r>
              <a:rPr b="0" i="0" lang="en" sz="15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Francia Berna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8164" y="0"/>
            <a:ext cx="359583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g3a7a2f8d65a_0_3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139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3a7a2f8d65a_0_337"/>
          <p:cNvSpPr txBox="1"/>
          <p:nvPr>
            <p:ph type="ctrTitle"/>
          </p:nvPr>
        </p:nvSpPr>
        <p:spPr>
          <a:xfrm>
            <a:off x="406900" y="2115900"/>
            <a:ext cx="2325600" cy="911700"/>
          </a:xfrm>
          <a:prstGeom prst="rect">
            <a:avLst/>
          </a:prstGeom>
          <a:solidFill>
            <a:srgbClr val="FFFFFF">
              <a:alpha val="8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/>
              <a:t>Integrantes del Proyecto</a:t>
            </a:r>
            <a:endParaRPr sz="2600"/>
          </a:p>
        </p:txBody>
      </p:sp>
      <p:graphicFrame>
        <p:nvGraphicFramePr>
          <p:cNvPr id="62" name="Google Shape;62;g3a7a2f8d65a_0_337"/>
          <p:cNvGraphicFramePr/>
          <p:nvPr/>
        </p:nvGraphicFramePr>
        <p:xfrm>
          <a:off x="3568600" y="556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2325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Alison Ibarra</a:t>
                      </a:r>
                      <a:endParaRPr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UX / CEO / PM</a:t>
                      </a:r>
                      <a:endParaRPr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048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Fira Sans Extra Condensed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Diseña interfaces (UX/UI)</a:t>
                      </a:r>
                      <a:endParaRPr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048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Fira Sans Extra Condensed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Coordina y gestiona el proyecto</a:t>
                      </a:r>
                      <a:endParaRPr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048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Fira Sans Extra Condensed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Modela la base de datos y estructura del sistema</a:t>
                      </a:r>
                      <a:endParaRPr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" name="Google Shape;63;g3a7a2f8d65a_0_337"/>
          <p:cNvGraphicFramePr/>
          <p:nvPr/>
        </p:nvGraphicFramePr>
        <p:xfrm>
          <a:off x="6396200" y="55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2325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Italo Muñoz</a:t>
                      </a:r>
                      <a:endParaRPr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DevOps</a:t>
                      </a:r>
                      <a:endParaRPr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048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Fira Sans Extra Condensed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Automatiza procesos</a:t>
                      </a:r>
                      <a:endParaRPr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048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Fira Sans Extra Condensed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Administra servidores y entornos</a:t>
                      </a:r>
                      <a:endParaRPr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048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Fira Sans Extra Condensed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Optimiza rendimiento y despliegue continuo</a:t>
                      </a:r>
                      <a:endParaRPr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4" name="Google Shape;64;g3a7a2f8d65a_0_337"/>
          <p:cNvGraphicFramePr/>
          <p:nvPr/>
        </p:nvGraphicFramePr>
        <p:xfrm>
          <a:off x="3568600" y="273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2325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Juan Ignacio Márquez </a:t>
                      </a:r>
                      <a:endParaRPr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QA &amp; Cybersecurity </a:t>
                      </a:r>
                      <a:endParaRPr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048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Fira Sans Extra Condensed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Realiza pruebas de calidad del sistema</a:t>
                      </a:r>
                      <a:endParaRPr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048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Fira Sans Extra Condensed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Detecta vulnerabilidades</a:t>
                      </a:r>
                      <a:endParaRPr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048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Fira Sans Extra Condensed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Implementa prácticas de seguridad</a:t>
                      </a:r>
                      <a:endParaRPr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5" name="Google Shape;65;g3a7a2f8d65a_0_337"/>
          <p:cNvGraphicFramePr/>
          <p:nvPr/>
        </p:nvGraphicFramePr>
        <p:xfrm>
          <a:off x="6396200" y="273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2325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José Figueroa</a:t>
                      </a:r>
                      <a:endParaRPr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Programador Backend</a:t>
                      </a:r>
                      <a:endParaRPr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048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Fira Sans Extra Condensed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Desarrolla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 la lógica y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funcionalidades del backend</a:t>
                      </a:r>
                      <a:endParaRPr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048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Fira Sans Extra Condensed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Crea y mantiene las APIs</a:t>
                      </a:r>
                      <a:endParaRPr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048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Fira Sans Extra Condensed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Gestiona despliegues</a:t>
                      </a:r>
                      <a:endParaRPr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6" name="Google Shape;66;g3a7a2f8d65a_0_337" title="icons8-requisitos-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0875" y="677100"/>
            <a:ext cx="372275" cy="3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g3a7a2f8d65a_0_337" title="icons8-devops-5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6050" y="677100"/>
            <a:ext cx="372275" cy="3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g3a7a2f8d65a_0_337" title="icons8-insecto-5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5100" y="2827550"/>
            <a:ext cx="372275" cy="3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g3a7a2f8d65a_0_337" title="icons8-programador-5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71437" y="2845163"/>
            <a:ext cx="337050" cy="33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g3a784559303_0_4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139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3a784559303_0_450"/>
          <p:cNvSpPr txBox="1"/>
          <p:nvPr>
            <p:ph type="ctrTitle"/>
          </p:nvPr>
        </p:nvSpPr>
        <p:spPr>
          <a:xfrm>
            <a:off x="406900" y="2115900"/>
            <a:ext cx="2325600" cy="911700"/>
          </a:xfrm>
          <a:prstGeom prst="rect">
            <a:avLst/>
          </a:prstGeom>
          <a:solidFill>
            <a:srgbClr val="FFFFFF">
              <a:alpha val="8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/>
              <a:t>Descripción del Proyecto</a:t>
            </a:r>
            <a:endParaRPr sz="2600"/>
          </a:p>
        </p:txBody>
      </p:sp>
      <p:graphicFrame>
        <p:nvGraphicFramePr>
          <p:cNvPr id="76" name="Google Shape;76;g3a784559303_0_450"/>
          <p:cNvGraphicFramePr/>
          <p:nvPr/>
        </p:nvGraphicFramePr>
        <p:xfrm>
          <a:off x="3961950" y="835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1396800"/>
                <a:gridCol w="3010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Problema</a:t>
                      </a:r>
                      <a:endParaRPr sz="2000"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1 CV por perfil </a:t>
                      </a:r>
                      <a:endParaRPr sz="18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Procesos lentos</a:t>
                      </a:r>
                      <a:endParaRPr sz="18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Sin retroalimentación</a:t>
                      </a:r>
                      <a:endParaRPr sz="18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Datos sensibles</a:t>
                      </a:r>
                      <a:endParaRPr sz="18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" name="Google Shape;77;g3a784559303_0_450"/>
          <p:cNvGraphicFramePr/>
          <p:nvPr/>
        </p:nvGraphicFramePr>
        <p:xfrm>
          <a:off x="3961950" y="292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1396800"/>
                <a:gridCol w="3010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Solución</a:t>
                      </a:r>
                      <a:endParaRPr sz="2000"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Plataforma Multiperfil</a:t>
                      </a:r>
                      <a:endParaRPr sz="18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Procesos más </a:t>
                      </a:r>
                      <a:r>
                        <a:rPr lang="en" sz="18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rápidos</a:t>
                      </a:r>
                      <a:r>
                        <a:rPr lang="en" sz="18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 </a:t>
                      </a:r>
                      <a:endParaRPr sz="18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Seguimiento continuo</a:t>
                      </a:r>
                      <a:endParaRPr sz="18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Postulación segura</a:t>
                      </a:r>
                      <a:endParaRPr sz="18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8" name="Google Shape;78;g3a784559303_0_450"/>
          <p:cNvSpPr txBox="1"/>
          <p:nvPr/>
        </p:nvSpPr>
        <p:spPr>
          <a:xfrm>
            <a:off x="4404800" y="957550"/>
            <a:ext cx="547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⚠</a:t>
            </a:r>
            <a:endParaRPr sz="2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79" name="Google Shape;79;g3a784559303_0_4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8250" y="3096000"/>
            <a:ext cx="340300" cy="3403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3a784559303_0_450"/>
          <p:cNvSpPr/>
          <p:nvPr/>
        </p:nvSpPr>
        <p:spPr>
          <a:xfrm>
            <a:off x="6044050" y="2237738"/>
            <a:ext cx="473100" cy="563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g3859377e982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139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859377e982_0_0"/>
          <p:cNvSpPr txBox="1"/>
          <p:nvPr>
            <p:ph type="ctrTitle"/>
          </p:nvPr>
        </p:nvSpPr>
        <p:spPr>
          <a:xfrm>
            <a:off x="406900" y="2115900"/>
            <a:ext cx="2325600" cy="911700"/>
          </a:xfrm>
          <a:prstGeom prst="rect">
            <a:avLst/>
          </a:prstGeom>
          <a:solidFill>
            <a:srgbClr val="FFFFFF">
              <a:alpha val="8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/>
              <a:t>Objetivos del Proyecto</a:t>
            </a:r>
            <a:endParaRPr sz="2600"/>
          </a:p>
        </p:txBody>
      </p:sp>
      <p:graphicFrame>
        <p:nvGraphicFramePr>
          <p:cNvPr id="87" name="Google Shape;87;g3859377e982_0_0"/>
          <p:cNvGraphicFramePr/>
          <p:nvPr/>
        </p:nvGraphicFramePr>
        <p:xfrm>
          <a:off x="4070225" y="268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4366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Objetivos Específicos 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Gestionar múltiples perfiles</a:t>
                      </a:r>
                      <a:endParaRPr sz="18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Implementar sistema de seguimiento</a:t>
                      </a:r>
                      <a:endParaRPr sz="18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Crear panel interactivo de métricas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8" name="Google Shape;88;g3859377e982_0_0"/>
          <p:cNvGraphicFramePr/>
          <p:nvPr/>
        </p:nvGraphicFramePr>
        <p:xfrm>
          <a:off x="4070225" y="76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4366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Objetivo General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Facilitar postulaciones y ofrecer una gestión eficiente del proceso.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" name="Google Shape;89;g3859377e982_0_0"/>
          <p:cNvSpPr/>
          <p:nvPr/>
        </p:nvSpPr>
        <p:spPr>
          <a:xfrm>
            <a:off x="6016700" y="2053113"/>
            <a:ext cx="473100" cy="563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0" name="Google Shape;90;g3859377e982_0_0" title="target_focus_aim_darts_icon_1886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4525" y="2789075"/>
            <a:ext cx="293250" cy="2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3859377e982_0_0" title="settings_reload_update_icon_18861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0725" y="8618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g3a7a2f8d65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139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a7a2f8d65a_0_0"/>
          <p:cNvSpPr txBox="1"/>
          <p:nvPr>
            <p:ph type="ctrTitle"/>
          </p:nvPr>
        </p:nvSpPr>
        <p:spPr>
          <a:xfrm>
            <a:off x="418450" y="1910088"/>
            <a:ext cx="2302500" cy="1323300"/>
          </a:xfrm>
          <a:prstGeom prst="rect">
            <a:avLst/>
          </a:prstGeom>
          <a:solidFill>
            <a:srgbClr val="FFFFFF">
              <a:alpha val="8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/>
              <a:t>Alcances y Limitaciones del Proyecto</a:t>
            </a:r>
            <a:endParaRPr sz="2600"/>
          </a:p>
        </p:txBody>
      </p:sp>
      <p:graphicFrame>
        <p:nvGraphicFramePr>
          <p:cNvPr id="98" name="Google Shape;98;g3a7a2f8d65a_0_0"/>
          <p:cNvGraphicFramePr/>
          <p:nvPr/>
        </p:nvGraphicFramePr>
        <p:xfrm>
          <a:off x="3576000" y="103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1279725"/>
                <a:gridCol w="389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Alcance</a:t>
                      </a:r>
                      <a:endParaRPr sz="1800"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Múltiples perfiles por usuario</a:t>
                      </a:r>
                      <a:endParaRPr sz="18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Retroalimentación de postulaciones</a:t>
                      </a:r>
                      <a:endParaRPr sz="18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Paneles empresariales</a:t>
                      </a:r>
                      <a:endParaRPr sz="18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9" name="Google Shape;99;g3a7a2f8d65a_0_0" title="trophy_winner_icon_1520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4700" y="1120500"/>
            <a:ext cx="270225" cy="2702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0" name="Google Shape;100;g3a7a2f8d65a_0_0"/>
          <p:cNvGraphicFramePr/>
          <p:nvPr/>
        </p:nvGraphicFramePr>
        <p:xfrm>
          <a:off x="3576000" y="2925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1310425"/>
                <a:gridCol w="3859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Limitaciones</a:t>
                      </a:r>
                      <a:endParaRPr sz="1800"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No incluye IA</a:t>
                      </a:r>
                      <a:endParaRPr sz="18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Funcionalidades complejas limitadas</a:t>
                      </a:r>
                      <a:endParaRPr sz="18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 Extra Condensed"/>
                        <a:buChar char="●"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Dependencia de recursos estándar</a:t>
                      </a:r>
                      <a:endParaRPr sz="18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1" name="Google Shape;101;g3a7a2f8d65a_0_0" title="trafficcone_83829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3537" y="2997575"/>
            <a:ext cx="312550" cy="31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a7a2f8d65a_0_0"/>
          <p:cNvSpPr/>
          <p:nvPr/>
        </p:nvSpPr>
        <p:spPr>
          <a:xfrm>
            <a:off x="6110125" y="2200188"/>
            <a:ext cx="473100" cy="563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g3a7a2f8d65a_0_0"/>
          <p:cNvSpPr/>
          <p:nvPr/>
        </p:nvSpPr>
        <p:spPr>
          <a:xfrm rot="10800000">
            <a:off x="5637025" y="2200175"/>
            <a:ext cx="473100" cy="563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a779d0935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139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a779d09359_0_0"/>
          <p:cNvSpPr txBox="1"/>
          <p:nvPr>
            <p:ph type="ctrTitle"/>
          </p:nvPr>
        </p:nvSpPr>
        <p:spPr>
          <a:xfrm>
            <a:off x="479500" y="2154425"/>
            <a:ext cx="2180400" cy="745500"/>
          </a:xfrm>
          <a:prstGeom prst="rect">
            <a:avLst/>
          </a:prstGeom>
          <a:solidFill>
            <a:srgbClr val="FFFFFF">
              <a:alpha val="8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/>
              <a:t>Metodología</a:t>
            </a:r>
            <a:endParaRPr sz="2600"/>
          </a:p>
        </p:txBody>
      </p:sp>
      <p:graphicFrame>
        <p:nvGraphicFramePr>
          <p:cNvPr id="110" name="Google Shape;110;g3a779d09359_0_0"/>
          <p:cNvGraphicFramePr/>
          <p:nvPr/>
        </p:nvGraphicFramePr>
        <p:xfrm>
          <a:off x="5034975" y="43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2470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Tradicional - Cascada</a:t>
                      </a:r>
                      <a:endParaRPr sz="2000"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</a:txBody>
                  <a:tcPr marT="91425" marB="91425" marR="91425" marL="91425" anchor="ctr"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111" name="Google Shape;111;g3a779d09359_0_0"/>
          <p:cNvSpPr txBox="1"/>
          <p:nvPr/>
        </p:nvSpPr>
        <p:spPr>
          <a:xfrm>
            <a:off x="5677575" y="1732100"/>
            <a:ext cx="1138500" cy="426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Análisis</a:t>
            </a:r>
            <a:endParaRPr sz="18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2" name="Google Shape;112;g3a779d09359_0_0"/>
          <p:cNvSpPr txBox="1"/>
          <p:nvPr/>
        </p:nvSpPr>
        <p:spPr>
          <a:xfrm>
            <a:off x="5381475" y="2276313"/>
            <a:ext cx="1730700" cy="4266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Diseño</a:t>
            </a:r>
            <a:endParaRPr sz="18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3" name="Google Shape;113;g3a779d09359_0_0"/>
          <p:cNvSpPr txBox="1"/>
          <p:nvPr/>
        </p:nvSpPr>
        <p:spPr>
          <a:xfrm>
            <a:off x="5096925" y="2797425"/>
            <a:ext cx="2299800" cy="426600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Desarrollo</a:t>
            </a:r>
            <a:endParaRPr sz="18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4" name="Google Shape;114;g3a779d09359_0_0"/>
          <p:cNvSpPr txBox="1"/>
          <p:nvPr/>
        </p:nvSpPr>
        <p:spPr>
          <a:xfrm>
            <a:off x="4791525" y="3318513"/>
            <a:ext cx="2910600" cy="4266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Pruebas</a:t>
            </a:r>
            <a:endParaRPr sz="18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5" name="Google Shape;115;g3a779d09359_0_0"/>
          <p:cNvSpPr txBox="1"/>
          <p:nvPr/>
        </p:nvSpPr>
        <p:spPr>
          <a:xfrm>
            <a:off x="4478175" y="3816525"/>
            <a:ext cx="3461400" cy="4266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Implementación</a:t>
            </a:r>
            <a:endParaRPr sz="18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6" name="Google Shape;116;g3a779d09359_0_0"/>
          <p:cNvSpPr txBox="1"/>
          <p:nvPr/>
        </p:nvSpPr>
        <p:spPr>
          <a:xfrm>
            <a:off x="4090175" y="4314525"/>
            <a:ext cx="4323000" cy="4266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Cierre</a:t>
            </a:r>
            <a:endParaRPr sz="18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7" name="Google Shape;117;g3a779d09359_0_0"/>
          <p:cNvSpPr txBox="1"/>
          <p:nvPr/>
        </p:nvSpPr>
        <p:spPr>
          <a:xfrm>
            <a:off x="6300525" y="1047800"/>
            <a:ext cx="8352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Fases</a:t>
            </a:r>
            <a:endParaRPr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18" name="Google Shape;118;g3a779d09359_0_0"/>
          <p:cNvSpPr/>
          <p:nvPr/>
        </p:nvSpPr>
        <p:spPr>
          <a:xfrm>
            <a:off x="5972325" y="1047788"/>
            <a:ext cx="473100" cy="563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g3a7a2f8d65a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139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a7a2f8d65a_0_15"/>
          <p:cNvSpPr txBox="1"/>
          <p:nvPr>
            <p:ph type="ctrTitle"/>
          </p:nvPr>
        </p:nvSpPr>
        <p:spPr>
          <a:xfrm>
            <a:off x="524650" y="2138475"/>
            <a:ext cx="2090100" cy="603300"/>
          </a:xfrm>
          <a:prstGeom prst="rect">
            <a:avLst/>
          </a:prstGeom>
          <a:solidFill>
            <a:srgbClr val="FFFFFF">
              <a:alpha val="8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/>
              <a:t>Cronograma</a:t>
            </a:r>
            <a:endParaRPr sz="2600"/>
          </a:p>
        </p:txBody>
      </p:sp>
      <p:graphicFrame>
        <p:nvGraphicFramePr>
          <p:cNvPr id="125" name="Google Shape;125;g3a7a2f8d65a_0_15"/>
          <p:cNvGraphicFramePr/>
          <p:nvPr/>
        </p:nvGraphicFramePr>
        <p:xfrm>
          <a:off x="4351950" y="59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4386425"/>
              </a:tblGrid>
              <a:tr h="82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" name="Google Shape;126;g3a7a2f8d65a_0_15"/>
          <p:cNvSpPr/>
          <p:nvPr/>
        </p:nvSpPr>
        <p:spPr>
          <a:xfrm>
            <a:off x="3716400" y="591200"/>
            <a:ext cx="1781700" cy="827700"/>
          </a:xfrm>
          <a:prstGeom prst="homePlate">
            <a:avLst>
              <a:gd fmla="val 50000" name="adj"/>
            </a:avLst>
          </a:prstGeom>
          <a:solidFill>
            <a:srgbClr val="93C47D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g3a7a2f8d65a_0_15"/>
          <p:cNvSpPr txBox="1"/>
          <p:nvPr/>
        </p:nvSpPr>
        <p:spPr>
          <a:xfrm>
            <a:off x="3716400" y="591200"/>
            <a:ext cx="1530600" cy="8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Fase 1</a:t>
            </a:r>
            <a:endParaRPr sz="18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4 semanas</a:t>
            </a:r>
            <a:endParaRPr sz="16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28" name="Google Shape;128;g3a7a2f8d65a_0_15"/>
          <p:cNvSpPr txBox="1"/>
          <p:nvPr/>
        </p:nvSpPr>
        <p:spPr>
          <a:xfrm>
            <a:off x="5438975" y="591200"/>
            <a:ext cx="3299400" cy="8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 Extra Condensed"/>
              <a:buChar char="●"/>
            </a:pPr>
            <a:r>
              <a:rPr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Levantamiento de requerimientos </a:t>
            </a:r>
            <a:endParaRPr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 Extra Condensed"/>
              <a:buChar char="●"/>
            </a:pPr>
            <a:r>
              <a:rPr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Diseño de arquitectura</a:t>
            </a:r>
            <a:endParaRPr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 Extra Condensed"/>
              <a:buChar char="●"/>
            </a:pPr>
            <a:r>
              <a:rPr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Modelado de base de datos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29" name="Google Shape;129;g3a7a2f8d65a_0_15"/>
          <p:cNvGraphicFramePr/>
          <p:nvPr/>
        </p:nvGraphicFramePr>
        <p:xfrm>
          <a:off x="4906225" y="196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3832150"/>
              </a:tblGrid>
              <a:tr h="82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9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0" name="Google Shape;130;g3a7a2f8d65a_0_15"/>
          <p:cNvSpPr/>
          <p:nvPr/>
        </p:nvSpPr>
        <p:spPr>
          <a:xfrm>
            <a:off x="3693150" y="1968050"/>
            <a:ext cx="1757700" cy="827700"/>
          </a:xfrm>
          <a:prstGeom prst="homePlate">
            <a:avLst>
              <a:gd fmla="val 50000" name="adj"/>
            </a:avLst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g3a7a2f8d65a_0_15"/>
          <p:cNvSpPr txBox="1"/>
          <p:nvPr/>
        </p:nvSpPr>
        <p:spPr>
          <a:xfrm>
            <a:off x="3681150" y="2027900"/>
            <a:ext cx="1455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Fase 2</a:t>
            </a:r>
            <a:endParaRPr sz="18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11 semanas</a:t>
            </a:r>
            <a:endParaRPr/>
          </a:p>
        </p:txBody>
      </p:sp>
      <p:sp>
        <p:nvSpPr>
          <p:cNvPr id="132" name="Google Shape;132;g3a7a2f8d65a_0_15"/>
          <p:cNvSpPr txBox="1"/>
          <p:nvPr/>
        </p:nvSpPr>
        <p:spPr>
          <a:xfrm>
            <a:off x="5247000" y="1968050"/>
            <a:ext cx="3491400" cy="8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Fira Sans Extra Condensed"/>
              <a:buChar char="●"/>
            </a:pPr>
            <a:r>
              <a:rPr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Desarrollo frontend, backend y BBDD</a:t>
            </a:r>
            <a:endParaRPr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Fira Sans Extra Condensed"/>
              <a:buChar char="●"/>
            </a:pPr>
            <a:r>
              <a:rPr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Integración de módulos</a:t>
            </a:r>
            <a:endParaRPr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Fira Sans Extra Condensed"/>
              <a:buChar char="●"/>
            </a:pPr>
            <a:r>
              <a:rPr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Pruebas QA unitarias e integrales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g3a7a2f8d65a_0_15"/>
          <p:cNvSpPr/>
          <p:nvPr/>
        </p:nvSpPr>
        <p:spPr>
          <a:xfrm>
            <a:off x="3681150" y="3344900"/>
            <a:ext cx="1781700" cy="827700"/>
          </a:xfrm>
          <a:prstGeom prst="homePlate">
            <a:avLst>
              <a:gd fmla="val 50000" name="adj"/>
            </a:avLst>
          </a:prstGeom>
          <a:solidFill>
            <a:srgbClr val="E06666"/>
          </a:solidFill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34" name="Google Shape;134;g3a7a2f8d65a_0_15"/>
          <p:cNvGraphicFramePr/>
          <p:nvPr/>
        </p:nvGraphicFramePr>
        <p:xfrm>
          <a:off x="4907075" y="334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3832150"/>
              </a:tblGrid>
              <a:tr h="82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" name="Google Shape;135;g3a7a2f8d65a_0_15"/>
          <p:cNvSpPr txBox="1"/>
          <p:nvPr/>
        </p:nvSpPr>
        <p:spPr>
          <a:xfrm>
            <a:off x="3681150" y="3344900"/>
            <a:ext cx="1530600" cy="8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Fase 3</a:t>
            </a:r>
            <a:endParaRPr sz="18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3 semanas</a:t>
            </a:r>
            <a:endParaRPr sz="16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36" name="Google Shape;136;g3a7a2f8d65a_0_15"/>
          <p:cNvSpPr txBox="1"/>
          <p:nvPr/>
        </p:nvSpPr>
        <p:spPr>
          <a:xfrm>
            <a:off x="5328250" y="3344900"/>
            <a:ext cx="3410100" cy="8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 Extra Condensed"/>
              <a:buChar char="●"/>
            </a:pPr>
            <a:r>
              <a:rPr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Ajustes de seguridad y rendimiento</a:t>
            </a:r>
            <a:endParaRPr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 Extra Condensed"/>
              <a:buChar char="●"/>
            </a:pPr>
            <a:r>
              <a:rPr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Preparación de presentación final del proyecto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g3a5ad08b668_0_705" title="diagram-export-25-11-2025-5_50_32-p.-m._upscayl_3x_ultrashar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175" y="205800"/>
            <a:ext cx="8281748" cy="482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a5ad08b668_0_705"/>
          <p:cNvSpPr txBox="1"/>
          <p:nvPr>
            <p:ph type="ctrTitle"/>
          </p:nvPr>
        </p:nvSpPr>
        <p:spPr>
          <a:xfrm>
            <a:off x="-246325" y="0"/>
            <a:ext cx="39744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/>
              <a:t>Arquitectura de Software</a:t>
            </a:r>
            <a:endParaRPr sz="2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a784559303_0_0" title="Relational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8805924" cy="507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a784559303_0_0"/>
          <p:cNvSpPr txBox="1"/>
          <p:nvPr>
            <p:ph type="ctrTitle"/>
          </p:nvPr>
        </p:nvSpPr>
        <p:spPr>
          <a:xfrm>
            <a:off x="0" y="170500"/>
            <a:ext cx="3269400" cy="5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/>
              <a:t>Modelo de Datos</a:t>
            </a:r>
            <a:endParaRPr sz="2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" name="Google Shape;153;g3a784559303_0_11"/>
          <p:cNvCxnSpPr/>
          <p:nvPr/>
        </p:nvCxnSpPr>
        <p:spPr>
          <a:xfrm>
            <a:off x="7441650" y="1860425"/>
            <a:ext cx="0" cy="957600"/>
          </a:xfrm>
          <a:prstGeom prst="straightConnector1">
            <a:avLst/>
          </a:prstGeom>
          <a:noFill/>
          <a:ln cap="flat" cmpd="sng" w="38100">
            <a:solidFill>
              <a:srgbClr val="0B53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g3a784559303_0_11"/>
          <p:cNvCxnSpPr/>
          <p:nvPr/>
        </p:nvCxnSpPr>
        <p:spPr>
          <a:xfrm flipH="1">
            <a:off x="5704450" y="3543000"/>
            <a:ext cx="807000" cy="9300"/>
          </a:xfrm>
          <a:prstGeom prst="straightConnector1">
            <a:avLst/>
          </a:prstGeom>
          <a:noFill/>
          <a:ln cap="flat" cmpd="sng" w="38100">
            <a:solidFill>
              <a:srgbClr val="0B53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g3a784559303_0_11"/>
          <p:cNvCxnSpPr/>
          <p:nvPr/>
        </p:nvCxnSpPr>
        <p:spPr>
          <a:xfrm rot="10800000">
            <a:off x="5704500" y="1491075"/>
            <a:ext cx="834300" cy="0"/>
          </a:xfrm>
          <a:prstGeom prst="straightConnector1">
            <a:avLst/>
          </a:prstGeom>
          <a:noFill/>
          <a:ln cap="flat" cmpd="sng" w="38100">
            <a:solidFill>
              <a:srgbClr val="0B53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g3a784559303_0_11"/>
          <p:cNvCxnSpPr/>
          <p:nvPr/>
        </p:nvCxnSpPr>
        <p:spPr>
          <a:xfrm>
            <a:off x="4774150" y="1874100"/>
            <a:ext cx="0" cy="930300"/>
          </a:xfrm>
          <a:prstGeom prst="straightConnector1">
            <a:avLst/>
          </a:prstGeom>
          <a:noFill/>
          <a:ln cap="flat" cmpd="sng" w="38100">
            <a:solidFill>
              <a:srgbClr val="0B539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7" name="Google Shape;157;g3a784559303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139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a784559303_0_11"/>
          <p:cNvSpPr txBox="1"/>
          <p:nvPr>
            <p:ph type="ctrTitle"/>
          </p:nvPr>
        </p:nvSpPr>
        <p:spPr>
          <a:xfrm>
            <a:off x="586450" y="2118738"/>
            <a:ext cx="1966500" cy="906000"/>
          </a:xfrm>
          <a:prstGeom prst="rect">
            <a:avLst/>
          </a:prstGeom>
          <a:solidFill>
            <a:srgbClr val="FFFFFF">
              <a:alpha val="8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/>
              <a:t>Tecnologías Utilizadas</a:t>
            </a:r>
            <a:endParaRPr sz="2600"/>
          </a:p>
        </p:txBody>
      </p:sp>
      <p:graphicFrame>
        <p:nvGraphicFramePr>
          <p:cNvPr id="159" name="Google Shape;159;g3a784559303_0_11"/>
          <p:cNvGraphicFramePr/>
          <p:nvPr/>
        </p:nvGraphicFramePr>
        <p:xfrm>
          <a:off x="3950388" y="103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1762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Backend</a:t>
                      </a:r>
                      <a:endParaRPr sz="2200"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Python (Django)</a:t>
                      </a:r>
                      <a:endParaRPr sz="20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0" name="Google Shape;160;g3a784559303_0_11"/>
          <p:cNvGraphicFramePr/>
          <p:nvPr/>
        </p:nvGraphicFramePr>
        <p:xfrm>
          <a:off x="3895800" y="279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1835575"/>
              </a:tblGrid>
              <a:tr h="1521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Front</a:t>
                      </a:r>
                      <a:r>
                        <a:rPr lang="en" sz="2200">
                          <a:solidFill>
                            <a:schemeClr val="dk1"/>
                          </a:solidFill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end</a:t>
                      </a:r>
                      <a:endParaRPr sz="2200">
                        <a:solidFill>
                          <a:schemeClr val="dk1"/>
                        </a:solidFill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HTML</a:t>
                      </a:r>
                      <a:endParaRPr sz="20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CSS</a:t>
                      </a:r>
                      <a:endParaRPr sz="20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JS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1" name="Google Shape;161;g3a784559303_0_11"/>
          <p:cNvGraphicFramePr/>
          <p:nvPr/>
        </p:nvGraphicFramePr>
        <p:xfrm>
          <a:off x="6487763" y="279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1835575"/>
              </a:tblGrid>
              <a:tr h="1521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Infraestructura</a:t>
                      </a:r>
                      <a:endParaRPr sz="2200">
                        <a:solidFill>
                          <a:schemeClr val="dk1"/>
                        </a:solidFill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AWS</a:t>
                      </a:r>
                      <a:endParaRPr sz="20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Google Cloud</a:t>
                      </a:r>
                      <a:endParaRPr sz="20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Cloudflare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2" name="Google Shape;162;g3a784559303_0_11"/>
          <p:cNvGraphicFramePr/>
          <p:nvPr/>
        </p:nvGraphicFramePr>
        <p:xfrm>
          <a:off x="6524188" y="103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1762800"/>
              </a:tblGrid>
              <a:tr h="714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Base de Datos</a:t>
                      </a:r>
                      <a:endParaRPr sz="2200">
                        <a:solidFill>
                          <a:schemeClr val="dk1"/>
                        </a:solidFill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SQL Azure</a:t>
                      </a:r>
                      <a:endParaRPr sz="2000"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FC5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g3995eb7b7a5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139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995eb7b7a5_0_16"/>
          <p:cNvSpPr txBox="1"/>
          <p:nvPr>
            <p:ph type="ctrTitle"/>
          </p:nvPr>
        </p:nvSpPr>
        <p:spPr>
          <a:xfrm>
            <a:off x="326800" y="2245100"/>
            <a:ext cx="2485800" cy="915000"/>
          </a:xfrm>
          <a:prstGeom prst="rect">
            <a:avLst/>
          </a:prstGeom>
          <a:solidFill>
            <a:srgbClr val="FFFFFF">
              <a:alpha val="8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/>
              <a:t>Demostración proyecto (DEMO)</a:t>
            </a:r>
            <a:endParaRPr sz="2600"/>
          </a:p>
        </p:txBody>
      </p:sp>
      <p:sp>
        <p:nvSpPr>
          <p:cNvPr id="169" name="Google Shape;169;g3995eb7b7a5_0_16"/>
          <p:cNvSpPr txBox="1"/>
          <p:nvPr/>
        </p:nvSpPr>
        <p:spPr>
          <a:xfrm>
            <a:off x="4493150" y="2028600"/>
            <a:ext cx="3539700" cy="10863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Link de acceso a sistema web:</a:t>
            </a:r>
            <a:endParaRPr sz="20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www.jobflex.cl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3995eb7b7a5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139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995eb7b7a5_0_21"/>
          <p:cNvSpPr txBox="1"/>
          <p:nvPr>
            <p:ph type="ctrTitle"/>
          </p:nvPr>
        </p:nvSpPr>
        <p:spPr>
          <a:xfrm>
            <a:off x="326800" y="2245100"/>
            <a:ext cx="2485800" cy="915000"/>
          </a:xfrm>
          <a:prstGeom prst="rect">
            <a:avLst/>
          </a:prstGeom>
          <a:solidFill>
            <a:srgbClr val="FFFFFF">
              <a:alpha val="8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/>
              <a:t>Resultados Obtenidos</a:t>
            </a:r>
            <a:endParaRPr sz="2600"/>
          </a:p>
        </p:txBody>
      </p:sp>
      <p:graphicFrame>
        <p:nvGraphicFramePr>
          <p:cNvPr id="176" name="Google Shape;176;g3995eb7b7a5_0_21"/>
          <p:cNvGraphicFramePr/>
          <p:nvPr/>
        </p:nvGraphicFramePr>
        <p:xfrm>
          <a:off x="3886350" y="64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703000"/>
                <a:gridCol w="394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Postulaciones más rápidas y fluidas</a:t>
                      </a:r>
                      <a:endParaRPr b="1" sz="16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0" lvl="0" marL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Se logró facilitar el proceso para candidatos y empresas.</a:t>
                      </a:r>
                      <a:endParaRPr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sp>
        <p:nvSpPr>
          <p:cNvPr id="177" name="Google Shape;177;g3995eb7b7a5_0_21"/>
          <p:cNvSpPr txBox="1"/>
          <p:nvPr/>
        </p:nvSpPr>
        <p:spPr>
          <a:xfrm>
            <a:off x="3964038" y="718313"/>
            <a:ext cx="54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☑️</a:t>
            </a:r>
            <a:endParaRPr sz="24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aphicFrame>
        <p:nvGraphicFramePr>
          <p:cNvPr id="178" name="Google Shape;178;g3995eb7b7a5_0_21"/>
          <p:cNvGraphicFramePr/>
          <p:nvPr/>
        </p:nvGraphicFramePr>
        <p:xfrm>
          <a:off x="3886350" y="156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703000"/>
                <a:gridCol w="394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Gestión eficiente con múltiples perfiles</a:t>
                      </a:r>
                      <a:endParaRPr b="1" sz="16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0" lvl="0" marL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Los usuarios pueden manejar varios CV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segun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 la postulación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.</a:t>
                      </a:r>
                      <a:endParaRPr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9" name="Google Shape;179;g3995eb7b7a5_0_21"/>
          <p:cNvGraphicFramePr/>
          <p:nvPr/>
        </p:nvGraphicFramePr>
        <p:xfrm>
          <a:off x="3886350" y="270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703000"/>
                <a:gridCol w="394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Seguimiento claro del proceso</a:t>
                      </a:r>
                      <a:endParaRPr b="1" sz="16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0" lvl="0" marL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Se implementó un sistema de estado y trazabilidad de postulaciones.</a:t>
                      </a:r>
                      <a:endParaRPr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0" name="Google Shape;180;g3995eb7b7a5_0_21"/>
          <p:cNvGraphicFramePr/>
          <p:nvPr/>
        </p:nvGraphicFramePr>
        <p:xfrm>
          <a:off x="3886350" y="383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703000"/>
                <a:gridCol w="394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Visualización de métricas Clave</a:t>
                      </a:r>
                      <a:endParaRPr b="1" sz="160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  <a:p>
                      <a:pPr indent="0" lvl="0" marL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El panel interactivo permite decisiones informadas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.</a:t>
                      </a:r>
                      <a:endParaRPr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E2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  <p:pic>
        <p:nvPicPr>
          <p:cNvPr id="181" name="Google Shape;181;g3995eb7b7a5_0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4063" y="1722300"/>
            <a:ext cx="540826" cy="54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995eb7b7a5_0_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64048" y="2857073"/>
            <a:ext cx="540900" cy="54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3995eb7b7a5_0_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8176" y="3909337"/>
            <a:ext cx="492627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g3995eb7b7a5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139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995eb7b7a5_0_26"/>
          <p:cNvSpPr txBox="1"/>
          <p:nvPr>
            <p:ph type="ctrTitle"/>
          </p:nvPr>
        </p:nvSpPr>
        <p:spPr>
          <a:xfrm>
            <a:off x="283150" y="1909050"/>
            <a:ext cx="2573100" cy="1325400"/>
          </a:xfrm>
          <a:prstGeom prst="rect">
            <a:avLst/>
          </a:prstGeom>
          <a:solidFill>
            <a:srgbClr val="FFFFFF">
              <a:alpha val="83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/>
              <a:t>Obstáculos</a:t>
            </a:r>
            <a:r>
              <a:rPr lang="en" sz="2600"/>
              <a:t> Presentados en el Desarrollo</a:t>
            </a:r>
            <a:endParaRPr sz="2600"/>
          </a:p>
        </p:txBody>
      </p:sp>
      <p:graphicFrame>
        <p:nvGraphicFramePr>
          <p:cNvPr id="190" name="Google Shape;190;g3995eb7b7a5_0_26"/>
          <p:cNvGraphicFramePr/>
          <p:nvPr/>
        </p:nvGraphicFramePr>
        <p:xfrm>
          <a:off x="3635100" y="62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585350"/>
                <a:gridCol w="4362725"/>
              </a:tblGrid>
              <a:tr h="80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Integración de múltiples servicios en la nube</a:t>
                      </a:r>
                      <a:endParaRPr sz="1600"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Combinar Azure, Google Cloud, AWS y el hosting externo generó desafíos de compatibilidad y configuración.</a:t>
                      </a:r>
                      <a:endParaRPr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1" name="Google Shape;191;g3995eb7b7a5_0_26"/>
          <p:cNvGraphicFramePr/>
          <p:nvPr/>
        </p:nvGraphicFramePr>
        <p:xfrm>
          <a:off x="3635100" y="1757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585350"/>
                <a:gridCol w="4362725"/>
              </a:tblGrid>
              <a:tr h="80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Complejidad en el modelado y gestión de datos</a:t>
                      </a:r>
                      <a:endParaRPr sz="1600"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Diseñar una base de datos robusta y relacional para múltiples perfiles y flujos de reclutamiento requirió iteraciones y ajustes.</a:t>
                      </a:r>
                      <a:endParaRPr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2" name="Google Shape;192;g3995eb7b7a5_0_26"/>
          <p:cNvGraphicFramePr/>
          <p:nvPr/>
        </p:nvGraphicFramePr>
        <p:xfrm>
          <a:off x="3635100" y="310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{47CB2D44-A394-405F-942F-F64A30195652}</a:tableStyleId>
              </a:tblPr>
              <a:tblGrid>
                <a:gridCol w="585350"/>
                <a:gridCol w="4362725"/>
              </a:tblGrid>
              <a:tr h="80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Implementación del sistema de métricas y seguimiento</a:t>
                      </a:r>
                      <a:endParaRPr sz="1600">
                        <a:latin typeface="Fira Sans Extra Condensed Medium"/>
                        <a:ea typeface="Fira Sans Extra Condensed Medium"/>
                        <a:cs typeface="Fira Sans Extra Condensed Medium"/>
                        <a:sym typeface="Fira Sans Extra Condensed Medium"/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Centralizar datos de postulaciones, estados y acciones en tiempo real implicó desarrollar lógica adicional y optimizar consultas.</a:t>
                      </a:r>
                      <a:endParaRPr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C47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  <p:pic>
        <p:nvPicPr>
          <p:cNvPr id="193" name="Google Shape;193;g3995eb7b7a5_0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5000" y="801538"/>
            <a:ext cx="495174" cy="495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995eb7b7a5_0_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5000" y="2043489"/>
            <a:ext cx="495174" cy="495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g3995eb7b7a5_0_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9913" y="3468950"/>
            <a:ext cx="585350" cy="5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3C47D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g37d56edcf9c_0_12" title="Capturafin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4093" y="0"/>
            <a:ext cx="7799912" cy="514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7d56edcf9c_0_12"/>
          <p:cNvSpPr txBox="1"/>
          <p:nvPr/>
        </p:nvSpPr>
        <p:spPr>
          <a:xfrm>
            <a:off x="1771400" y="1532125"/>
            <a:ext cx="4398900" cy="31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JobFlex demostró que es posible modernizar y simplificar el proceso de reclutamiento, ofreciendo una experiencia más rápida, clara y eficiente para candidatos y empresas.</a:t>
            </a:r>
            <a:endParaRPr sz="20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El proyecto cumplió sus objetivos, integrando múltiples tecnologías y creando una plataforma funcional, escalable y lista para seguir evolucionando.</a:t>
            </a:r>
            <a:endParaRPr sz="20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2" name="Google Shape;202;g37d56edcf9c_0_12"/>
          <p:cNvSpPr txBox="1"/>
          <p:nvPr>
            <p:ph type="ctrTitle"/>
          </p:nvPr>
        </p:nvSpPr>
        <p:spPr>
          <a:xfrm>
            <a:off x="543725" y="497725"/>
            <a:ext cx="2180400" cy="7455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600"/>
              <a:t>Conclusiones</a:t>
            </a:r>
            <a:endParaRPr sz="2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ig Data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C64E"/>
      </a:accent1>
      <a:accent2>
        <a:srgbClr val="FF8001"/>
      </a:accent2>
      <a:accent3>
        <a:srgbClr val="5FD0DB"/>
      </a:accent3>
      <a:accent4>
        <a:srgbClr val="32AAD9"/>
      </a:accent4>
      <a:accent5>
        <a:srgbClr val="1A569C"/>
      </a:accent5>
      <a:accent6>
        <a:srgbClr val="D558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