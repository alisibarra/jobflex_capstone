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Fira Sans Extra Condensed Medium"/>
      <p:regular r:id="rId21"/>
      <p:bold r:id="rId22"/>
      <p:italic r:id="rId23"/>
      <p:boldItalic r:id="rId24"/>
    </p:embeddedFont>
    <p:embeddedFont>
      <p:font typeface="Fira Sans Extra Condensed"/>
      <p:regular r:id="rId25"/>
      <p:bold r:id="rId26"/>
      <p:italic r:id="rId27"/>
      <p:boldItalic r:id="rId28"/>
    </p:embeddedFont>
    <p:embeddedFont>
      <p:font typeface="Fira Sans Extra Condensed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+eE6e/ayHgZGgHpQfYMGr5cGt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1FF3AC-B73B-45F6-8E73-D2DAB5CF337B}">
  <a:tblStyle styleId="{A41FF3AC-B73B-45F6-8E73-D2DAB5CF33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FiraSansExtraCondensedMedium-bold.fntdata"/><Relationship Id="rId21" Type="http://schemas.openxmlformats.org/officeDocument/2006/relationships/font" Target="fonts/FiraSansExtraCondensedMedium-regular.fntdata"/><Relationship Id="rId24" Type="http://schemas.openxmlformats.org/officeDocument/2006/relationships/font" Target="fonts/FiraSansExtraCondensedMedium-boldItalic.fntdata"/><Relationship Id="rId23" Type="http://schemas.openxmlformats.org/officeDocument/2006/relationships/font" Target="fonts/FiraSansExtraCondensed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-bold.fntdata"/><Relationship Id="rId25" Type="http://schemas.openxmlformats.org/officeDocument/2006/relationships/font" Target="fonts/FiraSansExtraCondensed-regular.fntdata"/><Relationship Id="rId28" Type="http://schemas.openxmlformats.org/officeDocument/2006/relationships/font" Target="fonts/FiraSansExtraCondensed-boldItalic.fntdata"/><Relationship Id="rId27" Type="http://schemas.openxmlformats.org/officeDocument/2006/relationships/font" Target="fonts/FiraSansExtra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SemiBold-italic.fntdata"/><Relationship Id="rId30" Type="http://schemas.openxmlformats.org/officeDocument/2006/relationships/font" Target="fonts/FiraSansExtraCondensedSemiBold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84559303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a784559303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9377e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859377e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7a2f8d6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7a2f8d6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779d093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779d093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ad08b668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a5ad08b668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845593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7845593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7845593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a7845593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65eda3a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865eda3a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95eb7b7a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95eb7b7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d56edcf9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7d56edcf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hyperlink" Target="http://www.jobflex.c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/>
        </p:nvSpPr>
        <p:spPr>
          <a:xfrm>
            <a:off x="549450" y="1129875"/>
            <a:ext cx="4490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Evaluación Transversal:</a:t>
            </a:r>
            <a:endParaRPr b="0" i="0" sz="36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“JobFlex - Plataforma de Empleo Multiperfil”</a:t>
            </a:r>
            <a:endParaRPr b="0" i="1" sz="26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PTY4614 - Capstone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8164" y="0"/>
            <a:ext cx="35958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21250" y="2990025"/>
            <a:ext cx="1987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Integrantes:</a:t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-Alison Ibarra</a:t>
            </a:r>
            <a:endParaRPr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-Italo Muñoz</a:t>
            </a:r>
            <a:endParaRPr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-José Figueroa</a:t>
            </a:r>
            <a:endParaRPr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-Juan Ignacio Marquez</a:t>
            </a:r>
            <a:endParaRPr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Sección:</a:t>
            </a: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002D</a:t>
            </a:r>
            <a:endParaRPr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Docente: </a:t>
            </a: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Francia Berna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3a784559303_0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a784559303_0_450"/>
          <p:cNvSpPr txBox="1"/>
          <p:nvPr>
            <p:ph type="ctrTitle"/>
          </p:nvPr>
        </p:nvSpPr>
        <p:spPr>
          <a:xfrm>
            <a:off x="406900" y="2115900"/>
            <a:ext cx="2325600" cy="9117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Descripción del Proyecto</a:t>
            </a:r>
            <a:endParaRPr sz="2600"/>
          </a:p>
        </p:txBody>
      </p:sp>
      <p:graphicFrame>
        <p:nvGraphicFramePr>
          <p:cNvPr id="62" name="Google Shape;62;g3a784559303_0_450"/>
          <p:cNvGraphicFramePr/>
          <p:nvPr/>
        </p:nvGraphicFramePr>
        <p:xfrm>
          <a:off x="3961950" y="835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396800"/>
                <a:gridCol w="301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Problema</a:t>
                      </a:r>
                      <a:endParaRPr sz="20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 CV por perfil 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Procesos lentos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Sin retroalimentación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Datos sensibles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Google Shape;63;g3a784559303_0_450"/>
          <p:cNvGraphicFramePr/>
          <p:nvPr/>
        </p:nvGraphicFramePr>
        <p:xfrm>
          <a:off x="3961950" y="292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396800"/>
                <a:gridCol w="301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Solución</a:t>
                      </a:r>
                      <a:endParaRPr sz="20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Plataforma Multiperfil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Procesos más </a:t>
                      </a: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rápidos</a:t>
                      </a: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Seguimiento continuo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Postulación segura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" name="Google Shape;64;g3a784559303_0_450"/>
          <p:cNvSpPr txBox="1"/>
          <p:nvPr/>
        </p:nvSpPr>
        <p:spPr>
          <a:xfrm>
            <a:off x="4404800" y="957550"/>
            <a:ext cx="54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⚠</a:t>
            </a:r>
            <a:endParaRPr sz="2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5" name="Google Shape;65;g3a784559303_0_4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250" y="3096000"/>
            <a:ext cx="340300" cy="3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784559303_0_450"/>
          <p:cNvSpPr/>
          <p:nvPr/>
        </p:nvSpPr>
        <p:spPr>
          <a:xfrm>
            <a:off x="6044050" y="2237738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859377e98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859377e982_0_0"/>
          <p:cNvSpPr txBox="1"/>
          <p:nvPr>
            <p:ph type="ctrTitle"/>
          </p:nvPr>
        </p:nvSpPr>
        <p:spPr>
          <a:xfrm>
            <a:off x="406900" y="2115900"/>
            <a:ext cx="2325600" cy="911700"/>
          </a:xfrm>
          <a:prstGeom prst="rect">
            <a:avLst/>
          </a:prstGeom>
          <a:solidFill>
            <a:srgbClr val="FFFFFF">
              <a:alpha val="8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Objetivos del Proyecto</a:t>
            </a:r>
            <a:endParaRPr sz="2600"/>
          </a:p>
        </p:txBody>
      </p:sp>
      <p:graphicFrame>
        <p:nvGraphicFramePr>
          <p:cNvPr id="73" name="Google Shape;73;g3859377e982_0_0"/>
          <p:cNvGraphicFramePr/>
          <p:nvPr/>
        </p:nvGraphicFramePr>
        <p:xfrm>
          <a:off x="4070225" y="268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43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Objetivos Específicos 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Gestionar múltiples perfiles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Implementar sistema de seguimiento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Crear panel interactivo de métricas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" name="Google Shape;74;g3859377e982_0_0"/>
          <p:cNvGraphicFramePr/>
          <p:nvPr/>
        </p:nvGraphicFramePr>
        <p:xfrm>
          <a:off x="4070225" y="76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43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Objetivo General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Facilitar postulaciones y ofrecer una gestión eficiente del proceso.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g3859377e982_0_0"/>
          <p:cNvSpPr/>
          <p:nvPr/>
        </p:nvSpPr>
        <p:spPr>
          <a:xfrm>
            <a:off x="6016700" y="2053113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g3859377e982_0_0" title="target_focus_aim_darts_icon_188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4525" y="2789075"/>
            <a:ext cx="293250" cy="2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859377e982_0_0" title="settings_reload_update_icon_1886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0725" y="8618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a7a2f8d65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a7a2f8d65a_0_0"/>
          <p:cNvSpPr txBox="1"/>
          <p:nvPr>
            <p:ph type="ctrTitle"/>
          </p:nvPr>
        </p:nvSpPr>
        <p:spPr>
          <a:xfrm>
            <a:off x="418450" y="1910088"/>
            <a:ext cx="2302500" cy="13233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Alcances y Limitaciones del Proyecto</a:t>
            </a:r>
            <a:endParaRPr sz="2600"/>
          </a:p>
        </p:txBody>
      </p:sp>
      <p:graphicFrame>
        <p:nvGraphicFramePr>
          <p:cNvPr id="84" name="Google Shape;84;g3a7a2f8d65a_0_0"/>
          <p:cNvGraphicFramePr/>
          <p:nvPr/>
        </p:nvGraphicFramePr>
        <p:xfrm>
          <a:off x="3576000" y="10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279725"/>
                <a:gridCol w="389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Alcance</a:t>
                      </a:r>
                      <a:endParaRPr sz="18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Múltiples perfiles por usuario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Retroalimentación de postulaciones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Paneles empresariales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5" name="Google Shape;85;g3a7a2f8d65a_0_0" title="trophy_winner_icon_1520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4700" y="1120500"/>
            <a:ext cx="270225" cy="270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g3a7a2f8d65a_0_0"/>
          <p:cNvGraphicFramePr/>
          <p:nvPr/>
        </p:nvGraphicFramePr>
        <p:xfrm>
          <a:off x="3576000" y="292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310425"/>
                <a:gridCol w="3859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Limitaciones</a:t>
                      </a:r>
                      <a:endParaRPr sz="18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No incluye IA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Limitaciones de Tiempo (18 semanas)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Dependencia de recursos estándar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7" name="Google Shape;87;g3a7a2f8d65a_0_0" title="trafficcone_83829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3537" y="2997575"/>
            <a:ext cx="312550" cy="312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a7a2f8d65a_0_0"/>
          <p:cNvSpPr/>
          <p:nvPr/>
        </p:nvSpPr>
        <p:spPr>
          <a:xfrm>
            <a:off x="6442650" y="2200188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g3a7a2f8d65a_0_0"/>
          <p:cNvSpPr/>
          <p:nvPr/>
        </p:nvSpPr>
        <p:spPr>
          <a:xfrm rot="10800000">
            <a:off x="5924325" y="2200175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a779d0935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a779d09359_0_0"/>
          <p:cNvSpPr txBox="1"/>
          <p:nvPr>
            <p:ph type="ctrTitle"/>
          </p:nvPr>
        </p:nvSpPr>
        <p:spPr>
          <a:xfrm>
            <a:off x="479500" y="2154425"/>
            <a:ext cx="2180400" cy="7455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Metodología</a:t>
            </a:r>
            <a:endParaRPr sz="2600"/>
          </a:p>
        </p:txBody>
      </p:sp>
      <p:graphicFrame>
        <p:nvGraphicFramePr>
          <p:cNvPr id="96" name="Google Shape;96;g3a779d09359_0_0"/>
          <p:cNvGraphicFramePr/>
          <p:nvPr/>
        </p:nvGraphicFramePr>
        <p:xfrm>
          <a:off x="5034975" y="23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247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Tradicional - Cascada</a:t>
                      </a:r>
                      <a:endParaRPr sz="20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g3a779d09359_0_0"/>
          <p:cNvSpPr/>
          <p:nvPr/>
        </p:nvSpPr>
        <p:spPr>
          <a:xfrm>
            <a:off x="6071475" y="815563"/>
            <a:ext cx="321000" cy="399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8" name="Google Shape;98;g3a779d09359_0_0"/>
          <p:cNvGraphicFramePr/>
          <p:nvPr/>
        </p:nvGraphicFramePr>
        <p:xfrm>
          <a:off x="4369075" y="13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380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Fase 1: Análisis y Diseño del Sistema (4 semanas)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Levantamiento de requerimientos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Diseño de la arquitectura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99" name="Google Shape;99;g3a779d09359_0_0"/>
          <p:cNvGraphicFramePr/>
          <p:nvPr/>
        </p:nvGraphicFramePr>
        <p:xfrm>
          <a:off x="4369075" y="249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380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Fase 2: </a:t>
                      </a: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Desarrollo y Pruebas (11 semanas)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Desarrollo frontend, backend y base de datos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Pruebas unitarias e integrales (QA)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00" name="Google Shape;100;g3a779d09359_0_0"/>
          <p:cNvGraphicFramePr/>
          <p:nvPr/>
        </p:nvGraphicFramePr>
        <p:xfrm>
          <a:off x="4369075" y="373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380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Fase 3: </a:t>
                      </a: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Implementación y Cierre (3 semanas)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solidFill>
                      <a:srgbClr val="E0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Ajustes de seguridad y rendimiento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Preparación y validación final del proyecto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a5ad08b668_0_705" title="diagram-export-25-11-2025-5_50_32-p.-m._upscayl_3x_ultrashar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13" y="0"/>
            <a:ext cx="883718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a5ad08b668_0_705"/>
          <p:cNvSpPr txBox="1"/>
          <p:nvPr>
            <p:ph type="ctrTitle"/>
          </p:nvPr>
        </p:nvSpPr>
        <p:spPr>
          <a:xfrm>
            <a:off x="0" y="88675"/>
            <a:ext cx="22467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Arquitectura de </a:t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Software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a784559303_0_0" title="Relational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05924" cy="50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a784559303_0_0"/>
          <p:cNvSpPr txBox="1"/>
          <p:nvPr>
            <p:ph type="ctrTitle"/>
          </p:nvPr>
        </p:nvSpPr>
        <p:spPr>
          <a:xfrm>
            <a:off x="0" y="170500"/>
            <a:ext cx="32694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Modelo de Datos</a:t>
            </a:r>
            <a:endParaRPr sz="2600"/>
          </a:p>
        </p:txBody>
      </p:sp>
      <p:pic>
        <p:nvPicPr>
          <p:cNvPr id="113" name="Google Shape;113;g3a784559303_0_0" title="Captur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2750" y="598475"/>
            <a:ext cx="5983424" cy="387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a784559303_0_0" title="Capturar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775" y="1953625"/>
            <a:ext cx="52387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a784559303_0_0" title="Capturar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0563" y="1391638"/>
            <a:ext cx="561022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g3a784559303_0_11"/>
          <p:cNvCxnSpPr/>
          <p:nvPr/>
        </p:nvCxnSpPr>
        <p:spPr>
          <a:xfrm>
            <a:off x="7441650" y="1860425"/>
            <a:ext cx="0" cy="95760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g3a784559303_0_11"/>
          <p:cNvCxnSpPr/>
          <p:nvPr/>
        </p:nvCxnSpPr>
        <p:spPr>
          <a:xfrm flipH="1">
            <a:off x="5704450" y="3543000"/>
            <a:ext cx="807000" cy="930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g3a784559303_0_11"/>
          <p:cNvCxnSpPr/>
          <p:nvPr/>
        </p:nvCxnSpPr>
        <p:spPr>
          <a:xfrm rot="10800000">
            <a:off x="5704500" y="1491075"/>
            <a:ext cx="834300" cy="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g3a784559303_0_11"/>
          <p:cNvCxnSpPr/>
          <p:nvPr/>
        </p:nvCxnSpPr>
        <p:spPr>
          <a:xfrm>
            <a:off x="4774150" y="1874100"/>
            <a:ext cx="0" cy="93030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4" name="Google Shape;124;g3a784559303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a784559303_0_11"/>
          <p:cNvSpPr txBox="1"/>
          <p:nvPr>
            <p:ph type="ctrTitle"/>
          </p:nvPr>
        </p:nvSpPr>
        <p:spPr>
          <a:xfrm>
            <a:off x="586450" y="2118738"/>
            <a:ext cx="1966500" cy="9060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Tecnologías Utilizadas</a:t>
            </a:r>
            <a:endParaRPr sz="2600"/>
          </a:p>
        </p:txBody>
      </p:sp>
      <p:graphicFrame>
        <p:nvGraphicFramePr>
          <p:cNvPr id="126" name="Google Shape;126;g3a784559303_0_11"/>
          <p:cNvGraphicFramePr/>
          <p:nvPr/>
        </p:nvGraphicFramePr>
        <p:xfrm>
          <a:off x="3950388" y="103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76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Backend</a:t>
                      </a:r>
                      <a:endParaRPr sz="22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Python (Django)</a:t>
                      </a:r>
                      <a:endParaRPr sz="20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g3a784559303_0_11"/>
          <p:cNvGraphicFramePr/>
          <p:nvPr/>
        </p:nvGraphicFramePr>
        <p:xfrm>
          <a:off x="3895800" y="27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835575"/>
              </a:tblGrid>
              <a:tr h="152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Front</a:t>
                      </a: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end</a:t>
                      </a:r>
                      <a:endParaRPr sz="2200">
                        <a:solidFill>
                          <a:schemeClr val="dk1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HTML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CSS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g3a784559303_0_11"/>
          <p:cNvGraphicFramePr/>
          <p:nvPr/>
        </p:nvGraphicFramePr>
        <p:xfrm>
          <a:off x="6487763" y="27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835575"/>
              </a:tblGrid>
              <a:tr h="152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Infraestructura</a:t>
                      </a:r>
                      <a:endParaRPr sz="2200">
                        <a:solidFill>
                          <a:schemeClr val="dk1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AWS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Google Cloud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Cloudflare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Google Shape;129;g3a784559303_0_11"/>
          <p:cNvGraphicFramePr/>
          <p:nvPr/>
        </p:nvGraphicFramePr>
        <p:xfrm>
          <a:off x="6524188" y="103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{A41FF3AC-B73B-45F6-8E73-D2DAB5CF337B}</a:tableStyleId>
              </a:tblPr>
              <a:tblGrid>
                <a:gridCol w="1762800"/>
              </a:tblGrid>
              <a:tr h="7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Base de Datos</a:t>
                      </a:r>
                      <a:endParaRPr sz="2200">
                        <a:solidFill>
                          <a:schemeClr val="dk1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SQL Azure</a:t>
                      </a:r>
                      <a:endParaRPr sz="20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865eda3ab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865eda3abb_0_0"/>
          <p:cNvSpPr txBox="1"/>
          <p:nvPr>
            <p:ph type="ctrTitle"/>
          </p:nvPr>
        </p:nvSpPr>
        <p:spPr>
          <a:xfrm>
            <a:off x="326800" y="2245100"/>
            <a:ext cx="2485800" cy="9150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Resultados Obtenidos</a:t>
            </a:r>
            <a:endParaRPr sz="2600"/>
          </a:p>
        </p:txBody>
      </p:sp>
      <p:pic>
        <p:nvPicPr>
          <p:cNvPr id="136" name="Google Shape;136;g3865eda3ab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4801" y="2704675"/>
            <a:ext cx="5597549" cy="186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865eda3ab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4800" y="622579"/>
            <a:ext cx="5597550" cy="18296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3865eda3abb_0_0"/>
          <p:cNvCxnSpPr>
            <a:stCxn id="134" idx="3"/>
          </p:cNvCxnSpPr>
          <p:nvPr/>
        </p:nvCxnSpPr>
        <p:spPr>
          <a:xfrm>
            <a:off x="3139400" y="2571750"/>
            <a:ext cx="60063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995eb7b7a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995eb7b7a5_0_16"/>
          <p:cNvSpPr txBox="1"/>
          <p:nvPr>
            <p:ph type="ctrTitle"/>
          </p:nvPr>
        </p:nvSpPr>
        <p:spPr>
          <a:xfrm>
            <a:off x="326800" y="2245100"/>
            <a:ext cx="2485800" cy="9150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Demostración proyecto (DEMO)</a:t>
            </a:r>
            <a:endParaRPr sz="2600"/>
          </a:p>
        </p:txBody>
      </p:sp>
      <p:sp>
        <p:nvSpPr>
          <p:cNvPr id="145" name="Google Shape;145;g3995eb7b7a5_0_16"/>
          <p:cNvSpPr txBox="1"/>
          <p:nvPr/>
        </p:nvSpPr>
        <p:spPr>
          <a:xfrm>
            <a:off x="4493150" y="2028600"/>
            <a:ext cx="3539700" cy="10863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Link de acceso a sistema web: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www.jobflex.cl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7d56edcf9c_0_12" title="Capturafi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093" y="0"/>
            <a:ext cx="7799912" cy="51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7d56edcf9c_0_12"/>
          <p:cNvSpPr txBox="1"/>
          <p:nvPr/>
        </p:nvSpPr>
        <p:spPr>
          <a:xfrm>
            <a:off x="1727050" y="1532125"/>
            <a:ext cx="4620900" cy="3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JobFlex demostró que es posible modernizar y simplificar el proceso de reclutamiento, ofreciendo una experiencia más rápida y eficiente tanto para candidatos como para empresas.</a:t>
            </a:r>
            <a:endParaRPr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El proyecto cumplió sus objetivos, integró correctamente las tecnologías necesarias y dio lugar a una plataforma funcional y lista para seguir creciendo.</a:t>
            </a:r>
            <a:endParaRPr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2" name="Google Shape;152;g37d56edcf9c_0_12"/>
          <p:cNvSpPr txBox="1"/>
          <p:nvPr>
            <p:ph type="ctrTitle"/>
          </p:nvPr>
        </p:nvSpPr>
        <p:spPr>
          <a:xfrm>
            <a:off x="543725" y="497725"/>
            <a:ext cx="2180400" cy="745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Conclusiones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